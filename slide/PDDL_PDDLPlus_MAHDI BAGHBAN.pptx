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66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" y="0"/>
            <a:ext cx="12191695" cy="201168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PDDL &amp; PDDL+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22376" y="2004059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Assignment D2-V3:</a:t>
            </a:r>
            <a:endParaRPr lang="fa-IR" dirty="0"/>
          </a:p>
          <a:p>
            <a:r>
              <a:rPr lang="en-US" dirty="0">
                <a:solidFill>
                  <a:srgbClr val="6A7380"/>
                </a:solidFill>
              </a:rPr>
              <a:t>Domestic Service Robot Mobile Manipulator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8096" y="2971800"/>
            <a:ext cx="2286000" cy="320040"/>
          </a:xfrm>
          <a:prstGeom prst="roundRect">
            <a:avLst/>
          </a:prstGeom>
          <a:solidFill>
            <a:srgbClr val="153A5B"/>
          </a:solidFill>
          <a:ln>
            <a:solidFill>
              <a:srgbClr val="153A5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Q1: Classical PDDL</a:t>
            </a:r>
            <a:endParaRPr lang="en-US" sz="1151" dirty="0"/>
          </a:p>
        </p:txBody>
      </p:sp>
      <p:sp>
        <p:nvSpPr>
          <p:cNvPr id="8" name="Text 6"/>
          <p:cNvSpPr/>
          <p:nvPr/>
        </p:nvSpPr>
        <p:spPr>
          <a:xfrm>
            <a:off x="3273552" y="2971800"/>
            <a:ext cx="1508760" cy="320040"/>
          </a:xfrm>
          <a:prstGeom prst="roundRect">
            <a:avLst/>
          </a:prstGeom>
          <a:solidFill>
            <a:srgbClr val="2AA876"/>
          </a:solidFill>
          <a:ln>
            <a:solidFill>
              <a:srgbClr val="2AA876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Q2: PDDL+</a:t>
            </a:r>
            <a:endParaRPr lang="en-US" sz="1151" dirty="0"/>
          </a:p>
        </p:txBody>
      </p:sp>
      <p:sp>
        <p:nvSpPr>
          <p:cNvPr id="9" name="Text 7"/>
          <p:cNvSpPr/>
          <p:nvPr/>
        </p:nvSpPr>
        <p:spPr>
          <a:xfrm>
            <a:off x="4919472" y="2971800"/>
            <a:ext cx="1874520" cy="320040"/>
          </a:xfrm>
          <a:prstGeom prst="roundRect">
            <a:avLst/>
          </a:prstGeom>
          <a:solidFill>
            <a:srgbClr val="F4A340"/>
          </a:solidFill>
          <a:ln>
            <a:solidFill>
              <a:srgbClr val="F4A34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+ Manipulation</a:t>
            </a:r>
            <a:endParaRPr lang="en-US" sz="1151" dirty="0"/>
          </a:p>
        </p:txBody>
      </p:sp>
      <p:sp>
        <p:nvSpPr>
          <p:cNvPr id="11" name="Text 8"/>
          <p:cNvSpPr/>
          <p:nvPr/>
        </p:nvSpPr>
        <p:spPr>
          <a:xfrm>
            <a:off x="768096" y="3794759"/>
            <a:ext cx="5691319" cy="13164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just"/>
            <a:r>
              <a:rPr lang="en-US" sz="1600" dirty="0"/>
              <a:t>A humanoid or mobile manipulator robot must prepare coffee in a kitchen where objects are distributed across multiple locations (e.g., fridge, sink, table). The robot must navigate between locations and manipulate objects.</a:t>
            </a:r>
          </a:p>
        </p:txBody>
      </p:sp>
      <p:sp>
        <p:nvSpPr>
          <p:cNvPr id="12" name="Text 9"/>
          <p:cNvSpPr/>
          <p:nvPr/>
        </p:nvSpPr>
        <p:spPr>
          <a:xfrm>
            <a:off x="768096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A7380"/>
                </a:solidFill>
              </a:rPr>
              <a:t>Mahdi Baghban Ghalehchi — S6741099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1" dirty="0">
                <a:solidFill>
                  <a:srgbClr val="6A73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&amp; PDDL+ Domestic Service Robot Mobile Manipulator - AI4RO2 </a:t>
            </a:r>
            <a:endParaRPr lang="en-US" sz="851" dirty="0"/>
          </a:p>
        </p:txBody>
      </p:sp>
      <p:sp>
        <p:nvSpPr>
          <p:cNvPr id="15" name="Text 12"/>
          <p:cNvSpPr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1" dirty="0">
                <a:solidFill>
                  <a:srgbClr val="6A7380"/>
                </a:solidFill>
              </a:rPr>
              <a:t>1/7</a:t>
            </a:r>
            <a:endParaRPr lang="en-US" sz="85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F5A63BC-4805-F5FA-009E-3634E6803B26}"/>
              </a:ext>
            </a:extLst>
          </p:cNvPr>
          <p:cNvSpPr/>
          <p:nvPr/>
        </p:nvSpPr>
        <p:spPr>
          <a:xfrm>
            <a:off x="722376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cap="small" dirty="0"/>
              <a:t>ARTIFICIAL INTELLIGENCE FOR ROBOTICS II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1968" y="296493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Scenario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18156"/>
            <a:ext cx="110642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3880" y="840695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r>
              <a:rPr lang="en-US" sz="1600" dirty="0"/>
              <a:t>Scenario: a mobile manipulator navigates a kitchen graph to collect distributed objects, prepare coffee using functional locations, and serve it at the table.</a:t>
            </a:r>
          </a:p>
        </p:txBody>
      </p:sp>
      <p:sp>
        <p:nvSpPr>
          <p:cNvPr id="6" name="Text 4"/>
          <p:cNvSpPr/>
          <p:nvPr/>
        </p:nvSpPr>
        <p:spPr>
          <a:xfrm>
            <a:off x="1236723" y="1421537"/>
            <a:ext cx="2240280" cy="320040"/>
          </a:xfrm>
          <a:prstGeom prst="roundRect">
            <a:avLst/>
          </a:prstGeom>
          <a:solidFill>
            <a:srgbClr val="153A5B"/>
          </a:solidFill>
          <a:ln>
            <a:solidFill>
              <a:srgbClr val="153A5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PDDL (Q1)</a:t>
            </a:r>
            <a:endParaRPr lang="en-US" sz="1151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104" y="2066697"/>
            <a:ext cx="4489519" cy="1810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20193" y="1404217"/>
            <a:ext cx="1904414" cy="320040"/>
          </a:xfrm>
          <a:prstGeom prst="roundRect">
            <a:avLst/>
          </a:prstGeom>
          <a:solidFill>
            <a:srgbClr val="2AA876"/>
          </a:solidFill>
          <a:ln>
            <a:solidFill>
              <a:srgbClr val="2AA876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PDDL+ (Q2)</a:t>
            </a:r>
            <a:endParaRPr lang="en-US" sz="1151" dirty="0"/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 t="-785" b="-1363"/>
          <a:stretch>
            <a:fillRect/>
          </a:stretch>
        </p:blipFill>
        <p:spPr>
          <a:xfrm>
            <a:off x="5418439" y="2084300"/>
            <a:ext cx="4707922" cy="178085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1" dirty="0">
                <a:solidFill>
                  <a:srgbClr val="6A73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&amp; PDDL+ Domestic Service Robot Mobile Manipulator - AI4RO2 </a:t>
            </a:r>
            <a:endParaRPr lang="en-US" sz="851" dirty="0"/>
          </a:p>
        </p:txBody>
      </p:sp>
      <p:sp>
        <p:nvSpPr>
          <p:cNvPr id="17" name="Text 13"/>
          <p:cNvSpPr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1" dirty="0">
                <a:solidFill>
                  <a:srgbClr val="6A7380"/>
                </a:solidFill>
              </a:rPr>
              <a:t>2/7</a:t>
            </a:r>
            <a:endParaRPr lang="en-US" sz="851" dirty="0"/>
          </a:p>
        </p:txBody>
      </p:sp>
      <p:pic>
        <p:nvPicPr>
          <p:cNvPr id="18" name="Image 0">
            <a:extLst>
              <a:ext uri="{FF2B5EF4-FFF2-40B4-BE49-F238E27FC236}">
                <a16:creationId xmlns:a16="http://schemas.microsoft.com/office/drawing/2014/main" id="{91845D50-36DA-925C-1C07-F836DFB81F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3" r="2273"/>
          <a:stretch/>
        </p:blipFill>
        <p:spPr>
          <a:xfrm>
            <a:off x="628825" y="4469212"/>
            <a:ext cx="4273300" cy="1957200"/>
          </a:xfrm>
          <a:prstGeom prst="rect">
            <a:avLst/>
          </a:prstGeom>
        </p:spPr>
      </p:pic>
      <p:pic>
        <p:nvPicPr>
          <p:cNvPr id="20" name="Image 1" descr="/mnt/data/slide_assets/complex_pddlplus_layout_clean.png">
            <a:extLst>
              <a:ext uri="{FF2B5EF4-FFF2-40B4-BE49-F238E27FC236}">
                <a16:creationId xmlns:a16="http://schemas.microsoft.com/office/drawing/2014/main" id="{FA34E8FB-F731-8CE4-1212-27B7A004FE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645" b="-13437"/>
          <a:stretch>
            <a:fillRect/>
          </a:stretch>
        </p:blipFill>
        <p:spPr>
          <a:xfrm>
            <a:off x="5897879" y="4495628"/>
            <a:ext cx="4019843" cy="1957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FD1577-94C9-215D-CAB6-78FA7956C236}"/>
              </a:ext>
            </a:extLst>
          </p:cNvPr>
          <p:cNvSpPr txBox="1"/>
          <p:nvPr/>
        </p:nvSpPr>
        <p:spPr>
          <a:xfrm>
            <a:off x="1562782" y="1806226"/>
            <a:ext cx="164218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u="sng" dirty="0"/>
              <a:t>Simple Layout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4145EA-B5BF-BD10-192D-A0B0DBEAFED4}"/>
              </a:ext>
            </a:extLst>
          </p:cNvPr>
          <p:cNvSpPr txBox="1"/>
          <p:nvPr/>
        </p:nvSpPr>
        <p:spPr>
          <a:xfrm>
            <a:off x="1562782" y="4184911"/>
            <a:ext cx="181965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u="sng" dirty="0"/>
              <a:t>Complex Layout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FDC37B-59D6-F0DA-5763-D742FBDD7A83}"/>
              </a:ext>
            </a:extLst>
          </p:cNvPr>
          <p:cNvSpPr txBox="1"/>
          <p:nvPr/>
        </p:nvSpPr>
        <p:spPr>
          <a:xfrm>
            <a:off x="6951306" y="1788264"/>
            <a:ext cx="164218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u="sng" dirty="0"/>
              <a:t>Simple Layout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162C10-F0F6-CEDA-40D2-5C909E0334E3}"/>
              </a:ext>
            </a:extLst>
          </p:cNvPr>
          <p:cNvSpPr txBox="1"/>
          <p:nvPr/>
        </p:nvSpPr>
        <p:spPr>
          <a:xfrm>
            <a:off x="6938438" y="4124822"/>
            <a:ext cx="181965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u="sng" dirty="0"/>
              <a:t>Complex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 — Classical PDDL Domain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642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83647"/>
            <a:ext cx="2514600" cy="557785"/>
          </a:xfrm>
          <a:prstGeom prst="roundRect">
            <a:avLst/>
          </a:prstGeom>
          <a:solidFill>
            <a:srgbClr val="153A5B"/>
          </a:solidFill>
          <a:ln>
            <a:solidFill>
              <a:srgbClr val="153A5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DESIGN EXAMPLE — State transition for the `move` action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4851160"/>
            <a:ext cx="3840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51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(move counter sink)</a:t>
            </a:r>
            <a:endParaRPr lang="en-US" sz="1451" dirty="0"/>
          </a:p>
        </p:txBody>
      </p:sp>
      <p:sp>
        <p:nvSpPr>
          <p:cNvPr id="8" name="Text 6"/>
          <p:cNvSpPr/>
          <p:nvPr/>
        </p:nvSpPr>
        <p:spPr>
          <a:xfrm>
            <a:off x="685800" y="5290072"/>
            <a:ext cx="2103828" cy="1051560"/>
          </a:xfrm>
          <a:prstGeom prst="roundRect">
            <a:avLst/>
          </a:prstGeom>
          <a:solidFill>
            <a:srgbClr val="F3F6F9">
              <a:alpha val="95000"/>
            </a:srgbClr>
          </a:solidFill>
          <a:ln w="12700">
            <a:solidFill>
              <a:srgbClr val="C9D6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lang="en-US" sz="1351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state fragment
</a:t>
            </a:r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(robot-at counter)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(connected counter sink)</a:t>
            </a:r>
            <a:endParaRPr lang="en-US" sz="1351" dirty="0"/>
          </a:p>
        </p:txBody>
      </p:sp>
      <p:sp>
        <p:nvSpPr>
          <p:cNvPr id="9" name="Text 7"/>
          <p:cNvSpPr/>
          <p:nvPr/>
        </p:nvSpPr>
        <p:spPr>
          <a:xfrm>
            <a:off x="2969007" y="562598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3A86B8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33316" y="5217974"/>
            <a:ext cx="1982612" cy="1051560"/>
          </a:xfrm>
          <a:prstGeom prst="roundRect">
            <a:avLst/>
          </a:prstGeom>
          <a:solidFill>
            <a:srgbClr val="F3F6F9">
              <a:alpha val="95000"/>
            </a:srgbClr>
          </a:solidFill>
          <a:ln w="12700">
            <a:solidFill>
              <a:srgbClr val="C9D6E2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r>
              <a:rPr lang="en-US" sz="1351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Resulting state fragment
</a:t>
            </a:r>
            <a:r>
              <a:rPr lang="en-US" sz="1400" dirty="0"/>
              <a:t>(robot-at sink)</a:t>
            </a:r>
            <a:br>
              <a:rPr lang="en-US" sz="1400" dirty="0"/>
            </a:br>
            <a:r>
              <a:rPr lang="en-US" sz="1400" dirty="0"/>
              <a:t>(connected counter sink)</a:t>
            </a:r>
            <a:endParaRPr lang="en-US" sz="1351" dirty="0"/>
          </a:p>
        </p:txBody>
      </p:sp>
      <p:sp>
        <p:nvSpPr>
          <p:cNvPr id="15" name="Shape 12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1" dirty="0">
                <a:solidFill>
                  <a:srgbClr val="6A73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&amp; PDDL+ Domestic Service Robot Mobile Manipulator - AI4RO2 </a:t>
            </a:r>
            <a:endParaRPr lang="en-US" sz="851" dirty="0"/>
          </a:p>
        </p:txBody>
      </p:sp>
      <p:sp>
        <p:nvSpPr>
          <p:cNvPr id="17" name="Text 14"/>
          <p:cNvSpPr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1" dirty="0">
                <a:solidFill>
                  <a:srgbClr val="6A7380"/>
                </a:solidFill>
              </a:rPr>
              <a:t>3/7</a:t>
            </a:r>
            <a:endParaRPr lang="en-US" sz="851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40D74F9-F9A0-F728-07BA-E2737145CD67}"/>
              </a:ext>
            </a:extLst>
          </p:cNvPr>
          <p:cNvSpPr/>
          <p:nvPr/>
        </p:nvSpPr>
        <p:spPr>
          <a:xfrm>
            <a:off x="5910103" y="558373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3A86B8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08C816A-BDA4-2D00-DE63-4E743F228984}"/>
              </a:ext>
            </a:extLst>
          </p:cNvPr>
          <p:cNvSpPr/>
          <p:nvPr/>
        </p:nvSpPr>
        <p:spPr>
          <a:xfrm>
            <a:off x="3330492" y="5239512"/>
            <a:ext cx="2450178" cy="1051560"/>
          </a:xfrm>
          <a:prstGeom prst="roundRect">
            <a:avLst/>
          </a:prstGeom>
          <a:solidFill>
            <a:srgbClr val="F3F6F9">
              <a:alpha val="95000"/>
            </a:srgbClr>
          </a:solidFill>
          <a:ln w="12700">
            <a:solidFill>
              <a:srgbClr val="C9D6E2"/>
            </a:solidFill>
          </a:ln>
        </p:spPr>
        <p:txBody>
          <a:bodyPr wrap="square" lIns="1524" tIns="1524" rIns="1524" bIns="1524" rtlCol="0" anchor="ctr">
            <a:normAutofit fontScale="85000" lnSpcReduction="20000"/>
          </a:bodyPr>
          <a:lstStyle/>
          <a:p>
            <a:r>
              <a:rPr lang="en-US" sz="1400" b="1" dirty="0"/>
              <a:t>Applied action and effects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(move counter sink)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delete: (robot-at counter)</a:t>
            </a:r>
            <a:br>
              <a:rPr lang="en-US" sz="1400" dirty="0"/>
            </a:br>
            <a:r>
              <a:rPr lang="en-US" sz="1400" dirty="0"/>
              <a:t>add: (robot-at sink)</a:t>
            </a:r>
            <a:endParaRPr lang="en-US" sz="135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0184AE-592D-EF2E-D876-813F9C58D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987" y="2879505"/>
            <a:ext cx="4032491" cy="1816287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98D11DE-5E0F-3A24-7BE0-64803031E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81565"/>
              </p:ext>
            </p:extLst>
          </p:nvPr>
        </p:nvGraphicFramePr>
        <p:xfrm>
          <a:off x="457201" y="1147164"/>
          <a:ext cx="5170602" cy="9462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2453">
                  <a:extLst>
                    <a:ext uri="{9D8B030D-6E8A-4147-A177-3AD203B41FA5}">
                      <a16:colId xmlns:a16="http://schemas.microsoft.com/office/drawing/2014/main" val="3594936694"/>
                    </a:ext>
                  </a:extLst>
                </a:gridCol>
                <a:gridCol w="4108149">
                  <a:extLst>
                    <a:ext uri="{9D8B030D-6E8A-4147-A177-3AD203B41FA5}">
                      <a16:colId xmlns:a16="http://schemas.microsoft.com/office/drawing/2014/main" val="518146705"/>
                    </a:ext>
                  </a:extLst>
                </a:gridCol>
              </a:tblGrid>
              <a:tr h="158116"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Type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buNone/>
                      </a:pPr>
                      <a:r>
                        <a:rPr lang="en-US" sz="1000" kern="100" dirty="0">
                          <a:effectLst/>
                        </a:rPr>
                        <a:t>Meaning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2011732"/>
                  </a:ext>
                </a:extLst>
              </a:tr>
              <a:tr h="229827"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location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A discrete place in the kitchen graph, such as counter, sink, machine, or table.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3922638"/>
                  </a:ext>
                </a:extLst>
              </a:tr>
              <a:tr h="158116"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item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A general manipulable object.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3872832"/>
                  </a:ext>
                </a:extLst>
              </a:tr>
              <a:tr h="158116"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cup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A subtype of item representing the coffee cup.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1421306"/>
                  </a:ext>
                </a:extLst>
              </a:tr>
              <a:tr h="158116"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ingredient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A subtype of item representing ingredients such as coffee powder.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731486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BE45D35-6666-8AB2-C603-D48D74F15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864531"/>
              </p:ext>
            </p:extLst>
          </p:nvPr>
        </p:nvGraphicFramePr>
        <p:xfrm>
          <a:off x="6233316" y="1146708"/>
          <a:ext cx="5672738" cy="12679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1457">
                  <a:extLst>
                    <a:ext uri="{9D8B030D-6E8A-4147-A177-3AD203B41FA5}">
                      <a16:colId xmlns:a16="http://schemas.microsoft.com/office/drawing/2014/main" val="982613258"/>
                    </a:ext>
                  </a:extLst>
                </a:gridCol>
                <a:gridCol w="1966549">
                  <a:extLst>
                    <a:ext uri="{9D8B030D-6E8A-4147-A177-3AD203B41FA5}">
                      <a16:colId xmlns:a16="http://schemas.microsoft.com/office/drawing/2014/main" val="3242351332"/>
                    </a:ext>
                  </a:extLst>
                </a:gridCol>
                <a:gridCol w="2344732">
                  <a:extLst>
                    <a:ext uri="{9D8B030D-6E8A-4147-A177-3AD203B41FA5}">
                      <a16:colId xmlns:a16="http://schemas.microsoft.com/office/drawing/2014/main" val="2962957835"/>
                    </a:ext>
                  </a:extLst>
                </a:gridCol>
              </a:tblGrid>
              <a:tr h="60787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Predicate group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Predicates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Purpose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6821515"/>
                  </a:ext>
                </a:extLst>
              </a:tr>
              <a:tr h="124056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Navigation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robot-at, connected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Encode the kitchen graph and the current robot location.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7392296"/>
                  </a:ext>
                </a:extLst>
              </a:tr>
              <a:tr h="124056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Manipulation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handempty, holding, at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Encode object location and gripper capacity.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8044656"/>
                  </a:ext>
                </a:extLst>
              </a:tr>
              <a:tr h="173052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Kitchen functionality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water-source, coffee-machine, serving-place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Make actions depend on the functional role of the current location.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2349241"/>
                  </a:ext>
                </a:extLst>
              </a:tr>
              <a:tr h="173052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Coffee state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empty, has-water, has-coffee-powder, brewed, served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Represent the causal preparation chain from empty cup to served coffee.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5131604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957CAFD-DB1B-6C80-A642-5C3526B13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611692"/>
              </p:ext>
            </p:extLst>
          </p:nvPr>
        </p:nvGraphicFramePr>
        <p:xfrm>
          <a:off x="457201" y="2239328"/>
          <a:ext cx="5170602" cy="1273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0944">
                  <a:extLst>
                    <a:ext uri="{9D8B030D-6E8A-4147-A177-3AD203B41FA5}">
                      <a16:colId xmlns:a16="http://schemas.microsoft.com/office/drawing/2014/main" val="1534573499"/>
                    </a:ext>
                  </a:extLst>
                </a:gridCol>
                <a:gridCol w="1792475">
                  <a:extLst>
                    <a:ext uri="{9D8B030D-6E8A-4147-A177-3AD203B41FA5}">
                      <a16:colId xmlns:a16="http://schemas.microsoft.com/office/drawing/2014/main" val="11150040"/>
                    </a:ext>
                  </a:extLst>
                </a:gridCol>
                <a:gridCol w="2137183">
                  <a:extLst>
                    <a:ext uri="{9D8B030D-6E8A-4147-A177-3AD203B41FA5}">
                      <a16:colId xmlns:a16="http://schemas.microsoft.com/office/drawing/2014/main" val="356732431"/>
                    </a:ext>
                  </a:extLst>
                </a:gridCol>
              </a:tblGrid>
              <a:tr h="63157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2235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Action group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2235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Actions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2235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Purpose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6334212"/>
                  </a:ext>
                </a:extLst>
              </a:tr>
              <a:tr h="194593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Navigation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move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Moves the robot between connected locations. It changes only the robot location.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950731"/>
                  </a:ext>
                </a:extLst>
              </a:tr>
              <a:tr h="194593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Object handling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pick-up, put-down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buNone/>
                      </a:pPr>
                      <a:r>
                        <a:rPr lang="en-US" sz="900" kern="100" dirty="0">
                          <a:effectLst/>
                        </a:rPr>
                        <a:t>Allows the robot to pick and place objects only when it is at the same location as the object.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5803132"/>
                  </a:ext>
                </a:extLst>
              </a:tr>
              <a:tr h="194593"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Coffee preparation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fill-water, add-coffee-powder, brew-coffee, serve-coffee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Represents the symbolic steps required to prepare and serve coffee.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9759758"/>
                  </a:ext>
                </a:extLst>
              </a:tr>
            </a:tbl>
          </a:graphicData>
        </a:graphic>
      </p:graphicFrame>
      <p:sp>
        <p:nvSpPr>
          <p:cNvPr id="28" name="Text 7">
            <a:extLst>
              <a:ext uri="{FF2B5EF4-FFF2-40B4-BE49-F238E27FC236}">
                <a16:creationId xmlns:a16="http://schemas.microsoft.com/office/drawing/2014/main" id="{2D17ED0C-7E82-ED23-2BA2-75CEB62D1B0D}"/>
              </a:ext>
            </a:extLst>
          </p:cNvPr>
          <p:cNvSpPr/>
          <p:nvPr/>
        </p:nvSpPr>
        <p:spPr>
          <a:xfrm>
            <a:off x="8365971" y="5585541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3A86B8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1AFF1202-0535-E589-EC48-10D7D83708F4}"/>
              </a:ext>
            </a:extLst>
          </p:cNvPr>
          <p:cNvSpPr/>
          <p:nvPr/>
        </p:nvSpPr>
        <p:spPr>
          <a:xfrm>
            <a:off x="9450525" y="56052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3A86B8"/>
                </a:solidFill>
              </a:rPr>
              <a:t>→</a:t>
            </a:r>
            <a:endParaRPr lang="en-US" sz="24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E33846F6-C8EC-B641-986E-08B45DA4B457}"/>
              </a:ext>
            </a:extLst>
          </p:cNvPr>
          <p:cNvSpPr/>
          <p:nvPr/>
        </p:nvSpPr>
        <p:spPr>
          <a:xfrm>
            <a:off x="9898172" y="5144710"/>
            <a:ext cx="2083296" cy="1051560"/>
          </a:xfrm>
          <a:prstGeom prst="roundRect">
            <a:avLst/>
          </a:prstGeom>
          <a:solidFill>
            <a:srgbClr val="F3F6F9">
              <a:alpha val="95000"/>
            </a:srgbClr>
          </a:solidFill>
          <a:ln w="12700">
            <a:solidFill>
              <a:srgbClr val="C9D6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lang="en-US" sz="1400" b="1" dirty="0"/>
              <a:t>Goal condition reached</a:t>
            </a:r>
            <a:r>
              <a:rPr lang="en-US" sz="1351" b="1" dirty="0">
                <a:solidFill>
                  <a:srgbClr val="0F2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400" dirty="0"/>
              <a:t>(served cup1)</a:t>
            </a:r>
            <a:endParaRPr lang="en-US" sz="135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933A69-02CE-2568-B1FB-47D25DD71FBF}"/>
              </a:ext>
            </a:extLst>
          </p:cNvPr>
          <p:cNvSpPr txBox="1"/>
          <p:nvPr/>
        </p:nvSpPr>
        <p:spPr>
          <a:xfrm>
            <a:off x="8247728" y="5125480"/>
            <a:ext cx="1618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/>
              <a:t>Repeat with applicable actions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D69D40-43C5-52A0-6954-96C00F2A3358}"/>
              </a:ext>
            </a:extLst>
          </p:cNvPr>
          <p:cNvSpPr txBox="1"/>
          <p:nvPr/>
        </p:nvSpPr>
        <p:spPr>
          <a:xfrm>
            <a:off x="8215928" y="5452260"/>
            <a:ext cx="1618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a-IR" sz="2400" dirty="0">
                <a:solidFill>
                  <a:srgbClr val="0070C0"/>
                </a:solidFill>
              </a:rPr>
              <a:t>...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 — PDDL Plan</a:t>
            </a:r>
            <a:r>
              <a:rPr lang="fa-IR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r>
              <a:rPr lang="fa-IR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642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r>
              <a:rPr lang="en-US" sz="1600" dirty="0"/>
              <a:t>The planner output confirms the intended </a:t>
            </a:r>
            <a:r>
              <a:rPr lang="en-US" sz="1600" dirty="0" err="1"/>
              <a:t>behaviour</a:t>
            </a:r>
            <a:r>
              <a:rPr lang="en-US" sz="1600" dirty="0"/>
              <a:t>: navigation enables location-dependent manipulation, while the distributed objects in the complex layout require additional movement and object-handling steps.</a:t>
            </a:r>
          </a:p>
        </p:txBody>
      </p:sp>
      <p:pic>
        <p:nvPicPr>
          <p:cNvPr id="6" name="Image 0" descr="/mnt/data/slide_assets/simple_pddl_layou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91" y="2498810"/>
            <a:ext cx="2971800" cy="12967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592906"/>
            <a:ext cx="2743200" cy="1246631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data/slide_assets/complex_pddl_layout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040" y="2426004"/>
            <a:ext cx="3291840" cy="120140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40830" y="2367561"/>
            <a:ext cx="2419196" cy="1375139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76449" y="4002268"/>
            <a:ext cx="2057400" cy="320040"/>
          </a:xfrm>
          <a:prstGeom prst="roundRect">
            <a:avLst/>
          </a:prstGeom>
          <a:solidFill>
            <a:srgbClr val="153A5B"/>
          </a:solidFill>
          <a:ln>
            <a:solidFill>
              <a:srgbClr val="153A5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Plan — Simple Layout</a:t>
            </a:r>
            <a:endParaRPr lang="en-US" sz="1151" dirty="0"/>
          </a:p>
        </p:txBody>
      </p:sp>
      <p:sp>
        <p:nvSpPr>
          <p:cNvPr id="11" name="Text 7"/>
          <p:cNvSpPr/>
          <p:nvPr/>
        </p:nvSpPr>
        <p:spPr>
          <a:xfrm>
            <a:off x="1038148" y="3899989"/>
            <a:ext cx="2788920" cy="2103120"/>
          </a:xfrm>
          <a:prstGeom prst="rect">
            <a:avLst/>
          </a:prstGeom>
          <a:noFill/>
          <a:ln/>
        </p:spPr>
        <p:txBody>
          <a:bodyPr wrap="square" lIns="763" tIns="763" rIns="763" bIns="763" rtlCol="0" anchor="ctr">
            <a:normAutofit/>
          </a:bodyPr>
          <a:lstStyle/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pick-up cup at counter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 sink → fill-water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/ add powder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 machine → brew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 table → serve</a:t>
            </a:r>
            <a:endParaRPr lang="en-US" sz="1351" dirty="0"/>
          </a:p>
        </p:txBody>
      </p:sp>
      <p:sp>
        <p:nvSpPr>
          <p:cNvPr id="12" name="Text 8"/>
          <p:cNvSpPr/>
          <p:nvPr/>
        </p:nvSpPr>
        <p:spPr>
          <a:xfrm>
            <a:off x="6815936" y="3864374"/>
            <a:ext cx="2148840" cy="320040"/>
          </a:xfrm>
          <a:prstGeom prst="roundRect">
            <a:avLst/>
          </a:prstGeom>
          <a:solidFill>
            <a:srgbClr val="F4A340"/>
          </a:solidFill>
          <a:ln>
            <a:solidFill>
              <a:srgbClr val="F4A34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Plan — Complex Layout</a:t>
            </a:r>
            <a:endParaRPr lang="en-US" sz="1151" dirty="0"/>
          </a:p>
        </p:txBody>
      </p:sp>
      <p:sp>
        <p:nvSpPr>
          <p:cNvPr id="13" name="Text 9"/>
          <p:cNvSpPr/>
          <p:nvPr/>
        </p:nvSpPr>
        <p:spPr>
          <a:xfrm>
            <a:off x="6815936" y="3831690"/>
            <a:ext cx="2788920" cy="2103120"/>
          </a:xfrm>
          <a:prstGeom prst="rect">
            <a:avLst/>
          </a:prstGeom>
          <a:noFill/>
          <a:ln/>
        </p:spPr>
        <p:txBody>
          <a:bodyPr wrap="square" lIns="763" tIns="763" rIns="763" bIns="763" rtlCol="0" anchor="ctr">
            <a:normAutofit/>
          </a:bodyPr>
          <a:lstStyle/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in hallway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cup from cupboard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to sink for water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pantry for coffee powder</a:t>
            </a:r>
            <a:endParaRPr lang="en-US" sz="1351" dirty="0"/>
          </a:p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pantry → machine → table</a:t>
            </a:r>
            <a:r>
              <a:rPr lang="fa-IR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serve</a:t>
            </a:r>
            <a:endParaRPr lang="en-US" sz="1351" dirty="0"/>
          </a:p>
        </p:txBody>
      </p:sp>
      <p:sp>
        <p:nvSpPr>
          <p:cNvPr id="15" name="Shape 1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1" dirty="0">
                <a:solidFill>
                  <a:srgbClr val="6A73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&amp; PDDL+ Domestic Service Robot Mobile Manipulator - AI4RO2 </a:t>
            </a:r>
            <a:endParaRPr lang="en-US" sz="851" dirty="0"/>
          </a:p>
        </p:txBody>
      </p:sp>
      <p:sp>
        <p:nvSpPr>
          <p:cNvPr id="17" name="Text 13"/>
          <p:cNvSpPr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1" dirty="0">
                <a:solidFill>
                  <a:srgbClr val="6A7380"/>
                </a:solidFill>
              </a:rPr>
              <a:t>4/7</a:t>
            </a:r>
            <a:endParaRPr lang="en-US" sz="85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0A621C9-D81E-C985-2F34-E1E1C39BE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341847"/>
              </p:ext>
            </p:extLst>
          </p:nvPr>
        </p:nvGraphicFramePr>
        <p:xfrm>
          <a:off x="3503099" y="1921465"/>
          <a:ext cx="2592901" cy="3346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901">
                  <a:extLst>
                    <a:ext uri="{9D8B030D-6E8A-4147-A177-3AD203B41FA5}">
                      <a16:colId xmlns:a16="http://schemas.microsoft.com/office/drawing/2014/main" val="191249259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543618271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 marL="4445"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#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 dirty="0">
                          <a:effectLst/>
                        </a:rPr>
                        <a:t>Action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387164462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 dirty="0">
                          <a:effectLst/>
                        </a:rPr>
                        <a:t>(pick-up cup1 counter)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310989731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(move counter sink)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300607544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(fill-water cup1 sink)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258428022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4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(move sink counter)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55888665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(put-down cup1 counter)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78805547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6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(pick-up coffee-powder counter)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74286406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7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(add-coffee-powder coffee-powder cup1 counter)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228368155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8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(put-down coffee-powder counter)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294610743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(pick-up cup1 counter)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127334763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10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(move counter machine)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2111666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11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(brew-coffee cup1 machine)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394326725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12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(move machine counter)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26091933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13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(move counter table)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100781608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14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 dirty="0">
                          <a:effectLst/>
                        </a:rPr>
                        <a:t>(serve-coffee cup1 table)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485" marR="73025" marT="0" marB="0" anchor="ctr"/>
                </a:tc>
                <a:extLst>
                  <a:ext uri="{0D108BD9-81ED-4DB2-BD59-A6C34878D82A}">
                    <a16:rowId xmlns:a16="http://schemas.microsoft.com/office/drawing/2014/main" val="356016819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680C373-9705-5C2B-28EF-D8299F71B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829496"/>
              </p:ext>
            </p:extLst>
          </p:nvPr>
        </p:nvGraphicFramePr>
        <p:xfrm>
          <a:off x="9284816" y="1940133"/>
          <a:ext cx="2592901" cy="33273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184">
                  <a:extLst>
                    <a:ext uri="{9D8B030D-6E8A-4147-A177-3AD203B41FA5}">
                      <a16:colId xmlns:a16="http://schemas.microsoft.com/office/drawing/2014/main" val="2921359260"/>
                    </a:ext>
                  </a:extLst>
                </a:gridCol>
                <a:gridCol w="2352717">
                  <a:extLst>
                    <a:ext uri="{9D8B030D-6E8A-4147-A177-3AD203B41FA5}">
                      <a16:colId xmlns:a16="http://schemas.microsoft.com/office/drawing/2014/main" val="2162376311"/>
                    </a:ext>
                  </a:extLst>
                </a:gridCol>
              </a:tblGrid>
              <a:tr h="167772">
                <a:tc>
                  <a:txBody>
                    <a:bodyPr/>
                    <a:lstStyle/>
                    <a:p>
                      <a:pPr marL="74930" algn="ctr">
                        <a:lnSpc>
                          <a:spcPct val="107000"/>
                        </a:lnSpc>
                        <a:buNone/>
                      </a:pPr>
                      <a:r>
                        <a:rPr lang="en-US" sz="900" kern="100">
                          <a:effectLst/>
                        </a:rPr>
                        <a:t>#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 Action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1080126131"/>
                  </a:ext>
                </a:extLst>
              </a:tr>
              <a:tr h="168331">
                <a:tc>
                  <a:txBody>
                    <a:bodyPr/>
                    <a:lstStyle/>
                    <a:p>
                      <a:pPr marL="70485"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 dirty="0">
                          <a:effectLst/>
                        </a:rPr>
                        <a:t>(move hallway cupboard)</a:t>
                      </a: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236153638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(pick-up cup1 cupboard)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1391704456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(move cupboard hallway)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1933278841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(move hallway sink)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622106488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(fill-water cup1 sink)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613132317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6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(move sink hallway)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653351100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7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(move hallway pantry)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3556843919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8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(put-down cup1 pantry)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2550549068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(pick-up coffee-powder pantry)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1696934732"/>
                  </a:ext>
                </a:extLst>
              </a:tr>
              <a:tr h="3812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(add-coffee-powder coffee-powder cup1 pantry)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901916544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(put-down coffee-powder pantry)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3673327190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(pick-up cup1 pantry)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1848495506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(move pantry machine)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4044152353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14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(brew-coffee cup1 machine)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2115545787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(move machine table)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1603469149"/>
                  </a:ext>
                </a:extLst>
              </a:tr>
              <a:tr h="1864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>
                          <a:effectLst/>
                        </a:rPr>
                        <a:t>16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7000"/>
                        </a:lnSpc>
                        <a:buNone/>
                      </a:pPr>
                      <a:r>
                        <a:rPr lang="en-US" sz="1000" kern="100" dirty="0">
                          <a:effectLst/>
                        </a:rPr>
                        <a:t>(serve-coffee cup1 table)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73025" marT="0" marB="0" anchor="ctr"/>
                </a:tc>
                <a:extLst>
                  <a:ext uri="{0D108BD9-81ED-4DB2-BD59-A6C34878D82A}">
                    <a16:rowId xmlns:a16="http://schemas.microsoft.com/office/drawing/2014/main" val="3432915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 — PDDL+ Domain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642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r>
              <a:rPr lang="en-US" sz="15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PDDL+ replaces instantaneous movement with a timed mechanism: an action starts movement, a process advances progress, and an event completes it.</a:t>
            </a:r>
            <a:endParaRPr lang="en-US" sz="1551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1DCCFE2-634E-4003-033D-6BB066D98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795364"/>
              </p:ext>
            </p:extLst>
          </p:nvPr>
        </p:nvGraphicFramePr>
        <p:xfrm>
          <a:off x="457199" y="1694065"/>
          <a:ext cx="10972801" cy="21052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1986">
                  <a:extLst>
                    <a:ext uri="{9D8B030D-6E8A-4147-A177-3AD203B41FA5}">
                      <a16:colId xmlns:a16="http://schemas.microsoft.com/office/drawing/2014/main" val="2318631938"/>
                    </a:ext>
                  </a:extLst>
                </a:gridCol>
                <a:gridCol w="3759911">
                  <a:extLst>
                    <a:ext uri="{9D8B030D-6E8A-4147-A177-3AD203B41FA5}">
                      <a16:colId xmlns:a16="http://schemas.microsoft.com/office/drawing/2014/main" val="3294493282"/>
                    </a:ext>
                  </a:extLst>
                </a:gridCol>
                <a:gridCol w="4910904">
                  <a:extLst>
                    <a:ext uri="{9D8B030D-6E8A-4147-A177-3AD203B41FA5}">
                      <a16:colId xmlns:a16="http://schemas.microsoft.com/office/drawing/2014/main" val="3923584801"/>
                    </a:ext>
                  </a:extLst>
                </a:gridCol>
              </a:tblGrid>
              <a:tr h="17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Construct group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effectLst/>
                        </a:rPr>
                        <a:t>Elements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Purpose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3424277"/>
                  </a:ext>
                </a:extLst>
              </a:tr>
              <a:tr h="371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Navigation action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`start-move`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Starts time-consuming navigation between connected locations. It activates `moving`, stores the origin and destination, resets `move-progress`, and sets the required movement duration.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8903891"/>
                  </a:ext>
                </a:extLst>
              </a:tr>
              <a:tr h="371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Manipulation actions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`pick-up`, `put-down`, `fill-water`, `add-coffee-powder`, `brew-coffee`, `serve-coffee`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Represent the symbolic coffee-preparation steps. These actions remain instantaneous in Q2 because the assignment specifically focuses on time consumption during movement.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8524733"/>
                  </a:ext>
                </a:extLst>
              </a:tr>
              <a:tr h="148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Time functions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`elapsed-time`, `deadline`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Store the total mission time and the latest acceptable completion time.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2560593"/>
                  </a:ext>
                </a:extLst>
              </a:tr>
              <a:tr h="296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Movement functions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`move-progress`, `current-move-duration`, `move-duration ?from ?to`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Store the progress of the current movement, the required duration of the active movement, and the travel time for each graph edge.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7657117"/>
                  </a:ext>
                </a:extLst>
              </a:tr>
              <a:tr h="371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Processes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`mission-clock`, `movement-progress`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`mission-clock` continuously increases `elapsed-time` while the mission is running. `movement-progress` continuously increases `move-progress` while the robot is moving.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7164059"/>
                  </a:ext>
                </a:extLst>
              </a:tr>
              <a:tr h="371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Events</a:t>
                      </a:r>
                      <a:endParaRPr lang="en-US" sz="105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`finish-move`, `deadline-violation`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`finish-move` automatically completes movement when progress reaches the required duration. `deadline-violation` automatically marks failure when the deadline is exceeded.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2259761"/>
                  </a:ext>
                </a:extLst>
              </a:tr>
            </a:tbl>
          </a:graphicData>
        </a:graphic>
      </p:graphicFrame>
      <p:sp>
        <p:nvSpPr>
          <p:cNvPr id="22" name="Text 3">
            <a:extLst>
              <a:ext uri="{FF2B5EF4-FFF2-40B4-BE49-F238E27FC236}">
                <a16:creationId xmlns:a16="http://schemas.microsoft.com/office/drawing/2014/main" id="{7F1F7F8B-32C9-E6FA-3035-F8B59B81F280}"/>
              </a:ext>
            </a:extLst>
          </p:cNvPr>
          <p:cNvSpPr/>
          <p:nvPr/>
        </p:nvSpPr>
        <p:spPr>
          <a:xfrm>
            <a:off x="426409" y="3945017"/>
            <a:ext cx="9784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movement: (start-move counter sink), with move-duration(counter, sink) = 2 time units</a:t>
            </a:r>
            <a:endParaRPr lang="en-US" sz="132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5DFAB9D1-5693-2BB3-1F66-504DE26DD4AD}"/>
              </a:ext>
            </a:extLst>
          </p:cNvPr>
          <p:cNvSpPr/>
          <p:nvPr/>
        </p:nvSpPr>
        <p:spPr>
          <a:xfrm>
            <a:off x="704088" y="4434593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549913AB-7A8D-4F92-E073-F16D39749226}"/>
              </a:ext>
            </a:extLst>
          </p:cNvPr>
          <p:cNvSpPr/>
          <p:nvPr/>
        </p:nvSpPr>
        <p:spPr>
          <a:xfrm>
            <a:off x="704088" y="4480313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Action</a:t>
            </a:r>
            <a:endParaRPr lang="en-US" sz="11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8694232E-81F7-4956-2A11-365C22414706}"/>
              </a:ext>
            </a:extLst>
          </p:cNvPr>
          <p:cNvSpPr/>
          <p:nvPr/>
        </p:nvSpPr>
        <p:spPr>
          <a:xfrm>
            <a:off x="4910328" y="4434593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2DAA70"/>
          </a:solidFill>
          <a:ln w="12700">
            <a:solidFill>
              <a:srgbClr val="2DA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52E65EA0-E283-B8DC-FA7F-A249F9D567CB}"/>
              </a:ext>
            </a:extLst>
          </p:cNvPr>
          <p:cNvSpPr/>
          <p:nvPr/>
        </p:nvSpPr>
        <p:spPr>
          <a:xfrm>
            <a:off x="4835683" y="4497577"/>
            <a:ext cx="1874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Process</a:t>
            </a:r>
            <a:endParaRPr lang="en-US" sz="11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77DD4029-FDBF-10F6-A7A7-843890C3C343}"/>
              </a:ext>
            </a:extLst>
          </p:cNvPr>
          <p:cNvSpPr/>
          <p:nvPr/>
        </p:nvSpPr>
        <p:spPr>
          <a:xfrm>
            <a:off x="8827319" y="4434593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11026D9D-F597-1F41-BC8A-C01058BFC325}"/>
              </a:ext>
            </a:extLst>
          </p:cNvPr>
          <p:cNvSpPr/>
          <p:nvPr/>
        </p:nvSpPr>
        <p:spPr>
          <a:xfrm>
            <a:off x="8827319" y="4480313"/>
            <a:ext cx="1783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Event</a:t>
            </a:r>
            <a:endParaRPr lang="en-US" sz="11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8B8B4178-2F72-485A-5DDF-3DF0CD224C27}"/>
              </a:ext>
            </a:extLst>
          </p:cNvPr>
          <p:cNvSpPr/>
          <p:nvPr/>
        </p:nvSpPr>
        <p:spPr>
          <a:xfrm>
            <a:off x="566928" y="4818641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 w="13970">
            <a:solidFill>
              <a:srgbClr val="C7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F90A3812-018D-89D5-A22B-36AFDCF19ADB}"/>
              </a:ext>
            </a:extLst>
          </p:cNvPr>
          <p:cNvSpPr/>
          <p:nvPr/>
        </p:nvSpPr>
        <p:spPr>
          <a:xfrm>
            <a:off x="676656" y="4928369"/>
            <a:ext cx="252374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start-move</a:t>
            </a:r>
            <a:endParaRPr lang="en-US" sz="14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058E796-4951-724A-C8BE-ADFE6CC50C9A}"/>
              </a:ext>
            </a:extLst>
          </p:cNvPr>
          <p:cNvSpPr/>
          <p:nvPr/>
        </p:nvSpPr>
        <p:spPr>
          <a:xfrm>
            <a:off x="676656" y="5321561"/>
            <a:ext cx="252374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(moving)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= counter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 = sink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move-progress = 0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current-move-duration = 2</a:t>
            </a:r>
            <a:endParaRPr lang="en-US" sz="11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A6044E74-05BB-CD70-F266-A277C58B0A45}"/>
              </a:ext>
            </a:extLst>
          </p:cNvPr>
          <p:cNvSpPr/>
          <p:nvPr/>
        </p:nvSpPr>
        <p:spPr>
          <a:xfrm>
            <a:off x="3520440" y="5339849"/>
            <a:ext cx="3017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78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D3C8D897-BEA4-0C10-1AA7-553C2AC07F17}"/>
              </a:ext>
            </a:extLst>
          </p:cNvPr>
          <p:cNvSpPr/>
          <p:nvPr/>
        </p:nvSpPr>
        <p:spPr>
          <a:xfrm>
            <a:off x="3995928" y="4818641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AF7F0"/>
          </a:solidFill>
          <a:ln w="13970">
            <a:solidFill>
              <a:srgbClr val="B8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811CDD5E-7B0E-BA65-FE56-7593D4CBE0A1}"/>
              </a:ext>
            </a:extLst>
          </p:cNvPr>
          <p:cNvSpPr/>
          <p:nvPr/>
        </p:nvSpPr>
        <p:spPr>
          <a:xfrm>
            <a:off x="4105656" y="4928369"/>
            <a:ext cx="307238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Process: movement-progress</a:t>
            </a:r>
            <a:endParaRPr lang="fa-IR" sz="1400" b="1" dirty="0">
              <a:solidFill>
                <a:srgbClr val="0D2B4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fluent: move-progress</a:t>
            </a:r>
            <a:endParaRPr lang="en-US" sz="14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ECEBBFF0-145F-4DC7-8089-BC29EFB7DCF8}"/>
              </a:ext>
            </a:extLst>
          </p:cNvPr>
          <p:cNvSpPr/>
          <p:nvPr/>
        </p:nvSpPr>
        <p:spPr>
          <a:xfrm>
            <a:off x="4105656" y="5321561"/>
            <a:ext cx="307238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(moving):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move-progress increases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over time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mission-clock also increases elapsed-time</a:t>
            </a:r>
            <a:endParaRPr lang="en-US" sz="115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10C0ED7F-781A-4622-28A1-B3F06430EA3E}"/>
              </a:ext>
            </a:extLst>
          </p:cNvPr>
          <p:cNvSpPr/>
          <p:nvPr/>
        </p:nvSpPr>
        <p:spPr>
          <a:xfrm>
            <a:off x="7470648" y="5339849"/>
            <a:ext cx="3017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78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ECA905C0-EEEF-05EA-4AB1-A2907F61FAE6}"/>
              </a:ext>
            </a:extLst>
          </p:cNvPr>
          <p:cNvSpPr/>
          <p:nvPr/>
        </p:nvSpPr>
        <p:spPr>
          <a:xfrm>
            <a:off x="7927848" y="4818641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2E1"/>
          </a:solidFill>
          <a:ln w="13970">
            <a:solidFill>
              <a:srgbClr val="F3C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1D487266-0D6F-E1BD-F0A2-DC959C75FA92}"/>
              </a:ext>
            </a:extLst>
          </p:cNvPr>
          <p:cNvSpPr/>
          <p:nvPr/>
        </p:nvSpPr>
        <p:spPr>
          <a:xfrm>
            <a:off x="8037576" y="4928369"/>
            <a:ext cx="311810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finish-move</a:t>
            </a:r>
            <a:endParaRPr lang="en-US" sz="14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C0EF4E27-D6E4-F3AF-6CD7-103DC67A803B}"/>
              </a:ext>
            </a:extLst>
          </p:cNvPr>
          <p:cNvSpPr/>
          <p:nvPr/>
        </p:nvSpPr>
        <p:spPr>
          <a:xfrm>
            <a:off x="8037576" y="5321561"/>
            <a:ext cx="311810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 automatically when: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move-progress ≥ current-move-duration</a:t>
            </a:r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effect: robot-at sink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not moving</a:t>
            </a:r>
            <a:endParaRPr lang="en-US" sz="1150" dirty="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F4DA878A-73F9-8E7F-2AAF-13EB742479C1}"/>
              </a:ext>
            </a:extLst>
          </p:cNvPr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72C1C9FA-6E10-12CF-AFB7-44645D84C48D}"/>
              </a:ext>
            </a:extLst>
          </p:cNvPr>
          <p:cNvSpPr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1" dirty="0">
                <a:solidFill>
                  <a:srgbClr val="6A73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&amp; PDDL+ Domestic Service Robot Mobile Manipulator - AI4RO2 </a:t>
            </a:r>
            <a:endParaRPr lang="en-US" sz="851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8B214C8D-EAF7-1F19-B0A4-7D38008814CF}"/>
              </a:ext>
            </a:extLst>
          </p:cNvPr>
          <p:cNvSpPr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1" dirty="0">
                <a:solidFill>
                  <a:srgbClr val="6A7380"/>
                </a:solidFill>
              </a:rPr>
              <a:t>5/7</a:t>
            </a:r>
            <a:endParaRPr lang="en-US" sz="85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 — PDDL+ Plan Output and Timing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642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slide_assets/simple_pddlplus_layou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3" y="2089175"/>
            <a:ext cx="3246120" cy="12007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0226" y="2089175"/>
            <a:ext cx="3061217" cy="164592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slide_assets/complex_pddlplus_layout_clean.png"/>
          <p:cNvPicPr>
            <a:picLocks noChangeAspect="1"/>
          </p:cNvPicPr>
          <p:nvPr/>
        </p:nvPicPr>
        <p:blipFill>
          <a:blip r:embed="rId4"/>
          <a:srcRect b="23395"/>
          <a:stretch>
            <a:fillRect/>
          </a:stretch>
        </p:blipFill>
        <p:spPr>
          <a:xfrm>
            <a:off x="6347616" y="2005806"/>
            <a:ext cx="2708676" cy="13964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63330" y="1786632"/>
            <a:ext cx="2868696" cy="1936489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51123" y="1507644"/>
            <a:ext cx="2148840" cy="320040"/>
          </a:xfrm>
          <a:prstGeom prst="roundRect">
            <a:avLst/>
          </a:prstGeom>
          <a:solidFill>
            <a:srgbClr val="2AA876"/>
          </a:solidFill>
          <a:ln>
            <a:solidFill>
              <a:srgbClr val="2AA876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PDDL+ Plan — Simple Layout</a:t>
            </a:r>
            <a:endParaRPr lang="en-US" sz="1151" dirty="0"/>
          </a:p>
        </p:txBody>
      </p:sp>
      <p:sp>
        <p:nvSpPr>
          <p:cNvPr id="10" name="Text 6"/>
          <p:cNvSpPr/>
          <p:nvPr/>
        </p:nvSpPr>
        <p:spPr>
          <a:xfrm>
            <a:off x="489783" y="3510991"/>
            <a:ext cx="2754393" cy="1691640"/>
          </a:xfrm>
          <a:prstGeom prst="rect">
            <a:avLst/>
          </a:prstGeom>
          <a:noFill/>
          <a:ln/>
        </p:spPr>
        <p:txBody>
          <a:bodyPr wrap="square" lIns="763" tIns="763" rIns="763" bIns="763" rtlCol="0" anchor="ctr">
            <a:normAutofit/>
          </a:bodyPr>
          <a:lstStyle/>
          <a:p>
            <a:r>
              <a:rPr lang="en-US" sz="1200" b="1" dirty="0"/>
              <a:t>Deadline: 12 time units</a:t>
            </a:r>
            <a:endParaRPr lang="en-US" sz="1200" dirty="0"/>
          </a:p>
          <a:p>
            <a:r>
              <a:rPr lang="en-US" sz="1200" b="1" dirty="0"/>
              <a:t>Selected route:</a:t>
            </a:r>
            <a:br>
              <a:rPr lang="en-US" sz="1200" dirty="0"/>
            </a:br>
            <a:r>
              <a:rPr lang="en-US" sz="1600" dirty="0"/>
              <a:t>counter → sink → counter → machine → counter → table</a:t>
            </a:r>
            <a:endParaRPr lang="en-US" sz="1200" dirty="0"/>
          </a:p>
          <a:p>
            <a:r>
              <a:rPr lang="en-US" sz="1200" b="1" dirty="0"/>
              <a:t>Completion time:</a:t>
            </a:r>
            <a:r>
              <a:rPr lang="en-US" sz="1200" dirty="0"/>
              <a:t> </a:t>
            </a:r>
            <a:r>
              <a:rPr lang="en-US" sz="1600" dirty="0"/>
              <a:t>t = 12.0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89512" y="1347624"/>
            <a:ext cx="2240280" cy="320040"/>
          </a:xfrm>
          <a:prstGeom prst="roundRect">
            <a:avLst/>
          </a:prstGeom>
          <a:solidFill>
            <a:srgbClr val="F4A340"/>
          </a:solidFill>
          <a:ln>
            <a:solidFill>
              <a:srgbClr val="F4A34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PDDL+ Plan — Complex Layout</a:t>
            </a:r>
            <a:endParaRPr lang="en-US" sz="1151" dirty="0"/>
          </a:p>
        </p:txBody>
      </p:sp>
      <p:sp>
        <p:nvSpPr>
          <p:cNvPr id="12" name="Text 8"/>
          <p:cNvSpPr/>
          <p:nvPr/>
        </p:nvSpPr>
        <p:spPr>
          <a:xfrm>
            <a:off x="6380194" y="3818736"/>
            <a:ext cx="2784411" cy="1691640"/>
          </a:xfrm>
          <a:prstGeom prst="rect">
            <a:avLst/>
          </a:prstGeom>
          <a:noFill/>
          <a:ln/>
        </p:spPr>
        <p:txBody>
          <a:bodyPr wrap="square" lIns="763" tIns="763" rIns="763" bIns="763" rtlCol="0" anchor="ctr">
            <a:normAutofit/>
          </a:bodyPr>
          <a:lstStyle/>
          <a:p>
            <a:r>
              <a:rPr lang="en-US" sz="1200" b="1" dirty="0"/>
              <a:t>Deadline: 18 time units</a:t>
            </a:r>
            <a:endParaRPr lang="en-US" sz="1200" dirty="0"/>
          </a:p>
          <a:p>
            <a:r>
              <a:rPr lang="en-US" sz="1200" b="1" dirty="0"/>
              <a:t>Selected route:</a:t>
            </a:r>
            <a:br>
              <a:rPr lang="en-US" sz="1200" dirty="0"/>
            </a:br>
            <a:r>
              <a:rPr lang="en-US" sz="1600" dirty="0"/>
              <a:t>hallway → cupboard → hallway → sink → hallway → pantry → machine → table</a:t>
            </a:r>
            <a:endParaRPr lang="en-US" sz="1200" dirty="0"/>
          </a:p>
          <a:p>
            <a:r>
              <a:rPr lang="en-US" sz="1200" b="1" dirty="0"/>
              <a:t>Completion time:</a:t>
            </a:r>
            <a:r>
              <a:rPr lang="en-US" sz="1200" dirty="0"/>
              <a:t> </a:t>
            </a:r>
            <a:r>
              <a:rPr lang="en-US" sz="1600" dirty="0"/>
              <a:t>t = 18.0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39643" y="5849971"/>
            <a:ext cx="10482010" cy="543572"/>
          </a:xfrm>
          <a:prstGeom prst="roundRect">
            <a:avLst/>
          </a:prstGeom>
          <a:solidFill>
            <a:srgbClr val="F3F6F9">
              <a:alpha val="95000"/>
            </a:srgbClr>
          </a:solidFill>
          <a:ln w="12700">
            <a:solidFill>
              <a:srgbClr val="C9D6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lang="en-US" sz="135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planner output may show idle waiting intervals to advance time. They are not domain actions, not events, and not manipulation duration.</a:t>
            </a:r>
            <a:endParaRPr lang="en-US" sz="1351" dirty="0"/>
          </a:p>
        </p:txBody>
      </p:sp>
      <p:sp>
        <p:nvSpPr>
          <p:cNvPr id="15" name="Shape 1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1" dirty="0">
                <a:solidFill>
                  <a:srgbClr val="6A73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&amp; PDDL+ Domestic Service Robot Mobile Manipulator - AI4RO2 </a:t>
            </a:r>
            <a:endParaRPr lang="en-US" sz="851" dirty="0"/>
          </a:p>
        </p:txBody>
      </p:sp>
      <p:sp>
        <p:nvSpPr>
          <p:cNvPr id="17" name="Text 13"/>
          <p:cNvSpPr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1" dirty="0">
                <a:solidFill>
                  <a:srgbClr val="6A7380"/>
                </a:solidFill>
              </a:rPr>
              <a:t>6/7</a:t>
            </a:r>
            <a:endParaRPr lang="en-US" sz="851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5E3BC5D-7019-943F-134E-0A428F3E4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724063"/>
              </p:ext>
            </p:extLst>
          </p:nvPr>
        </p:nvGraphicFramePr>
        <p:xfrm>
          <a:off x="3280332" y="1280232"/>
          <a:ext cx="2708676" cy="4145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9808">
                  <a:extLst>
                    <a:ext uri="{9D8B030D-6E8A-4147-A177-3AD203B41FA5}">
                      <a16:colId xmlns:a16="http://schemas.microsoft.com/office/drawing/2014/main" val="1146029949"/>
                    </a:ext>
                  </a:extLst>
                </a:gridCol>
                <a:gridCol w="2218868">
                  <a:extLst>
                    <a:ext uri="{9D8B030D-6E8A-4147-A177-3AD203B41FA5}">
                      <a16:colId xmlns:a16="http://schemas.microsoft.com/office/drawing/2014/main" val="1353387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Time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Planner output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6781055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0.0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(pick-up cup1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2338954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0.0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-----waiting----- [1.0]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0669545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(start-move counter sink)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1554996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-----waiting----- [3.0]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7087376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3.0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[event] (finish-move counter sink)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788401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3.0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(fill-water cup1 sink)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85110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3.0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(start-move sink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67262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3.0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-----waiting----- [5.0]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007542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[event] (finish-move sink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8372147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(put-down cup1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8263976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(pick-up coffee-powder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4489488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(add-coffee-powder coffee-powder cup1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446810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(put-down coffee-powder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3863006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(pick-up cup1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6290448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(start-move counter machine)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0614785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5.0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-----waiting----- [8.0]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3095857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8.0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[event] (finish-move counter machine)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924116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8.0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(brew-coffee cup1 machine)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153769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8.0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(start-move machine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439865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8.0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-----waiting----- [11.0]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5122488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11.0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[event] (finish-move machine counter)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0896036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11.0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(start-move counter table)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381925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11.0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-----waiting----- [12.0]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6458898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12.0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[event] (finish-move counter table)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780980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12.0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(serve-coffee cup1 table)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191097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DF99E6B-EC01-1D76-9155-48AA7818D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110634"/>
              </p:ext>
            </p:extLst>
          </p:nvPr>
        </p:nvGraphicFramePr>
        <p:xfrm>
          <a:off x="9330614" y="1252239"/>
          <a:ext cx="2525953" cy="4526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3852">
                  <a:extLst>
                    <a:ext uri="{9D8B030D-6E8A-4147-A177-3AD203B41FA5}">
                      <a16:colId xmlns:a16="http://schemas.microsoft.com/office/drawing/2014/main" val="2218549215"/>
                    </a:ext>
                  </a:extLst>
                </a:gridCol>
                <a:gridCol w="2022101">
                  <a:extLst>
                    <a:ext uri="{9D8B030D-6E8A-4147-A177-3AD203B41FA5}">
                      <a16:colId xmlns:a16="http://schemas.microsoft.com/office/drawing/2014/main" val="3172812379"/>
                    </a:ext>
                  </a:extLst>
                </a:gridCol>
              </a:tblGrid>
              <a:tr h="162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Time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Planner output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 anchor="ctr"/>
                </a:tc>
                <a:extLst>
                  <a:ext uri="{0D108BD9-81ED-4DB2-BD59-A6C34878D82A}">
                    <a16:rowId xmlns:a16="http://schemas.microsoft.com/office/drawing/2014/main" val="241430571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0.0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[1.0]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741922673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(start-move hallway cupboard)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1302329871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[3.0]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728382440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[event] (finish-move hallway cupboard)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4140907177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(pick-up cup1 cupboard)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108372706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(start-move cupboard hallway)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943282523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[5.0]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56181204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5.0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[event] (finish-move cupboard hallway)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88552591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5.0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(start-move hallway sink)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1228048675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5.0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[8.0]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65058704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8.0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[event] (finish-move hallway sink)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2228439096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8.0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(fill-water cup1 sink)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1724806203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8.0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(start-move sink hallway)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1602873281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8.0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[11.0]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2887376291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11.0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[event] (finish-move sink hallway)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274820191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11.0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(start-move hallway pantry)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2112495809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11.0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[13.0]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659048460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[event] (finish-move hallway pantry)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812536659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(put-down cup1 pantry)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2119997048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(pick-up coffee-powder pantry)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90138661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(add-coffee-powder coffee-powder cup1 pantry)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85807997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(put-down coffee-powder pantry)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2690799239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(pick-up cup1 pantry)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268140723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(start-move pantry machine)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925939591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13.0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[16.0]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70659382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16.0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[event] (finish-move pantry machine)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079456126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16.0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(brew-coffee cup1 machine)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652184041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16.0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(start-move machine table)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2264762922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16.0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-----waiting----- [18.0]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4087095536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18.0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[event] (finish-move machine table)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3512272138"/>
                  </a:ext>
                </a:extLst>
              </a:tr>
              <a:tr h="135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18.0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(serve-coffee cup1 table)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811" marR="60811" marT="0" marB="0"/>
                </a:tc>
                <a:extLst>
                  <a:ext uri="{0D108BD9-81ED-4DB2-BD59-A6C34878D82A}">
                    <a16:rowId xmlns:a16="http://schemas.microsoft.com/office/drawing/2014/main" val="652765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10642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828800" cy="320040"/>
          </a:xfrm>
          <a:prstGeom prst="roundRect">
            <a:avLst/>
          </a:prstGeom>
          <a:solidFill>
            <a:srgbClr val="153A5B"/>
          </a:solidFill>
          <a:ln>
            <a:solidFill>
              <a:srgbClr val="153A5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Abstraction Gap</a:t>
            </a:r>
          </a:p>
        </p:txBody>
      </p:sp>
      <p:sp>
        <p:nvSpPr>
          <p:cNvPr id="6" name="Text 4"/>
          <p:cNvSpPr/>
          <p:nvPr/>
        </p:nvSpPr>
        <p:spPr>
          <a:xfrm>
            <a:off x="777239" y="1561299"/>
            <a:ext cx="10214221" cy="1508760"/>
          </a:xfrm>
          <a:prstGeom prst="rect">
            <a:avLst/>
          </a:prstGeom>
          <a:noFill/>
          <a:ln/>
        </p:spPr>
        <p:txBody>
          <a:bodyPr wrap="square" lIns="763" tIns="763" rIns="763" bIns="763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robot reasons with symbolic facts and discrete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Physical feasibility is abstracted through predicates such as </a:t>
            </a:r>
            <a:r>
              <a:rPr lang="en-US" dirty="0"/>
              <a:t>robot-at</a:t>
            </a:r>
            <a:r>
              <a:rPr lang="en-US" sz="1600" dirty="0"/>
              <a:t>, </a:t>
            </a:r>
            <a:r>
              <a:rPr lang="en-US" dirty="0"/>
              <a:t>at</a:t>
            </a:r>
            <a:r>
              <a:rPr lang="en-US" sz="1600" dirty="0"/>
              <a:t>, </a:t>
            </a:r>
            <a:r>
              <a:rPr lang="en-US" dirty="0"/>
              <a:t>connected</a:t>
            </a:r>
            <a:r>
              <a:rPr lang="en-US" sz="1600" dirty="0"/>
              <a:t>, and </a:t>
            </a:r>
            <a:r>
              <a:rPr lang="en-US" dirty="0"/>
              <a:t>holding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trajectories, grasp poses, object geometry, or arm configurations are computed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 execution would require motion planning, grasp planning, collision checking, and low-level control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3324252"/>
            <a:ext cx="2600442" cy="320040"/>
          </a:xfrm>
          <a:prstGeom prst="roundRect">
            <a:avLst/>
          </a:prstGeom>
          <a:solidFill>
            <a:srgbClr val="B23A48"/>
          </a:solidFill>
          <a:ln>
            <a:solidFill>
              <a:srgbClr val="B23A4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151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Known Issues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3185206"/>
            <a:ext cx="10130246" cy="2063558"/>
          </a:xfrm>
          <a:prstGeom prst="rect">
            <a:avLst/>
          </a:prstGeom>
          <a:noFill/>
          <a:ln/>
        </p:spPr>
        <p:txBody>
          <a:bodyPr wrap="square" lIns="763" tIns="763" rIns="763" bIns="763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Manipulation actions are treated as instantaneous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Only navigation consumes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Waiting intervals only advance planner time; they are not actions, events, or manipulation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Suitable for symbolic task-level planning, not complete physical robot execution</a:t>
            </a:r>
          </a:p>
        </p:txBody>
      </p:sp>
      <p:sp>
        <p:nvSpPr>
          <p:cNvPr id="12" name="Shape 1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1" dirty="0">
                <a:solidFill>
                  <a:srgbClr val="6A73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PDDL &amp; PDDL+ Domestic Service Robot Mobile Manipulator - AI4RO2 </a:t>
            </a:r>
            <a:endParaRPr lang="en-US" sz="851" dirty="0"/>
          </a:p>
        </p:txBody>
      </p:sp>
      <p:sp>
        <p:nvSpPr>
          <p:cNvPr id="14" name="Text 12"/>
          <p:cNvSpPr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1" dirty="0">
                <a:solidFill>
                  <a:srgbClr val="6A7380"/>
                </a:solidFill>
              </a:rPr>
              <a:t>7/7</a:t>
            </a:r>
            <a:endParaRPr lang="en-US" sz="85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F6CA8-CE4B-848B-2EBB-37152B44105C}"/>
              </a:ext>
            </a:extLst>
          </p:cNvPr>
          <p:cNvSpPr txBox="1"/>
          <p:nvPr/>
        </p:nvSpPr>
        <p:spPr>
          <a:xfrm>
            <a:off x="777239" y="5440787"/>
            <a:ext cx="91046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Add timed manipulation and connect symbolic planning to motion planning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925028B-A361-A815-8A3E-68AB28CDD526}"/>
              </a:ext>
            </a:extLst>
          </p:cNvPr>
          <p:cNvSpPr/>
          <p:nvPr/>
        </p:nvSpPr>
        <p:spPr>
          <a:xfrm>
            <a:off x="777240" y="5088744"/>
            <a:ext cx="1828800" cy="320040"/>
          </a:xfrm>
          <a:prstGeom prst="roundRect">
            <a:avLst/>
          </a:prstGeom>
          <a:solidFill>
            <a:schemeClr val="accent6"/>
          </a:solidFill>
          <a:ln>
            <a:solidFill>
              <a:srgbClr val="153A5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Possible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276</TotalTime>
  <Words>1707</Words>
  <Application>Microsoft Office PowerPoint</Application>
  <PresentationFormat>Widescreen</PresentationFormat>
  <Paragraphs>354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PDDL &amp; PDDL+ Domestic Service Robot Mobile Manipulator</dc:title>
  <dc:subject>PDDL &amp; PDDL+ 10-minute presentation</dc:subject>
  <dc:creator>MAHDI BAGHBAN GHALEHCHI</dc:creator>
  <cp:lastModifiedBy>MAHDI BAGHBAN GHALEHCHI</cp:lastModifiedBy>
  <cp:revision>36</cp:revision>
  <dcterms:created xsi:type="dcterms:W3CDTF">2026-06-15T10:59:43Z</dcterms:created>
  <dcterms:modified xsi:type="dcterms:W3CDTF">2026-06-15T22:07:43Z</dcterms:modified>
</cp:coreProperties>
</file>